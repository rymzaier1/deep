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457200"/>
            <a:ext cx="2286000" cy="22860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 panose="020F0502020204030204"/>
              </a:rPr>
              <a:t>DEEP LEARNING PROJECT</a:t>
            </a:r>
            <a:endParaRPr sz="13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 panose="020F0502020204030204"/>
              </a:rPr>
              <a:t>Sign Language</a:t>
            </a:r>
            <a:endParaRPr sz="5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B4D8"/>
                </a:solidFill>
                <a:latin typeface="Calibri" panose="020F0502020204030204"/>
              </a:rPr>
              <a:t>Recognition</a:t>
            </a:r>
            <a:endParaRPr sz="5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0E0EF"/>
                </a:solidFill>
                <a:latin typeface="Calibri" panose="020F0502020204030204"/>
              </a:rPr>
              <a:t>Classifying ASL hand signs using a
Convolutional Neural Network + Streamlit</a:t>
            </a:r>
            <a:endParaRPr sz="18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6217920"/>
            <a:ext cx="11887200" cy="64008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91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 panose="020F0502020204030204"/>
              </a:rPr>
              <a:t>CNN Baseline (96%)  •  PyTorch  •  Streamlit  •  25 ASL Classes</a:t>
            </a:r>
            <a:endParaRPr sz="130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228600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 panose="020F0502020204030204"/>
              </a:rPr>
              <a:t>Project Overview</a:t>
            </a:r>
            <a:endParaRPr sz="3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47472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F1C3B"/>
                </a:solidFill>
                <a:latin typeface="Calibri" panose="020F0502020204030204"/>
              </a:rPr>
              <a:t>🎯</a:t>
            </a:r>
            <a:endParaRPr sz="3000" b="0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C3B"/>
                </a:solidFill>
                <a:latin typeface="Calibri" panose="020F0502020204030204"/>
              </a:rPr>
              <a:t>Objective</a:t>
            </a:r>
            <a:endParaRPr sz="18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 panose="020F0502020204030204"/>
              </a:rPr>
              <a:t>Recognize 25 ASL alphabet letters
(A–Y) from static hand sign images.</a:t>
            </a:r>
            <a:endParaRPr sz="14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347472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F1C3B"/>
                </a:solidFill>
                <a:latin typeface="Calibri" panose="020F0502020204030204"/>
              </a:rPr>
              <a:t>📦</a:t>
            </a:r>
            <a:endParaRPr sz="3000" b="0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780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C3B"/>
                </a:solidFill>
                <a:latin typeface="Calibri" panose="020F0502020204030204"/>
              </a:rPr>
              <a:t>Dataset</a:t>
            </a:r>
            <a:endParaRPr sz="18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 panose="020F0502020204030204"/>
              </a:rPr>
              <a:t>Sign Language MNIST — 27,455 training
and 7,172 test 28×28 grayscale images.</a:t>
            </a:r>
            <a:endParaRPr sz="14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4747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47472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F1C3B"/>
                </a:solidFill>
                <a:latin typeface="Calibri" panose="020F0502020204030204"/>
              </a:rPr>
              <a:t>🚀</a:t>
            </a:r>
            <a:endParaRPr sz="3000" b="0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C3B"/>
                </a:solidFill>
                <a:latin typeface="Calibri" panose="020F0502020204030204"/>
              </a:rPr>
              <a:t>Deployment</a:t>
            </a:r>
            <a:endParaRPr sz="18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 panose="020F0502020204030204"/>
              </a:rPr>
              <a:t>Streamlit web app with CNN Baseline
(96% accuracy) — upload &amp; predict instantly.</a:t>
            </a:r>
            <a:endParaRPr sz="140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228600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Model Architecture — CNNBaseline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 panose="020F0502020204030204"/>
              </a:rPr>
              <a:t>Deployed model  •  CNN Baseline  •  96% accuracy</a:t>
            </a:r>
            <a:endParaRPr sz="13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463040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4630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Input
1×28×28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38528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21408" y="1920240"/>
            <a:ext cx="1463040" cy="2560320"/>
          </a:xfrm>
          <a:prstGeom prst="rect">
            <a:avLst/>
          </a:prstGeom>
          <a:solidFill>
            <a:srgbClr val="027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1408" y="2377440"/>
            <a:ext cx="14630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Conv2D
1→32
ReLU + Pool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02736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785616" y="1920240"/>
            <a:ext cx="1463040" cy="2560320"/>
          </a:xfrm>
          <a:prstGeom prst="rect">
            <a:avLst/>
          </a:prstGeom>
          <a:solidFill>
            <a:srgbClr val="02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377440"/>
            <a:ext cx="14630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Conv2D
32→64
ReLU + Pool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66944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49824" y="1920240"/>
            <a:ext cx="1463040" cy="256032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9824" y="2377440"/>
            <a:ext cx="14630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Flatten
3136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31152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114032" y="1920240"/>
            <a:ext cx="1463040" cy="2560320"/>
          </a:xfrm>
          <a:prstGeom prst="rect">
            <a:avLst/>
          </a:prstGeom>
          <a:solidFill>
            <a:srgbClr val="027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2377440"/>
            <a:ext cx="14630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FC 128
ReLU
Dropout 0.5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95360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 panose="020F0502020204030204"/>
              </a:rPr>
              <a:t>→</a:t>
            </a:r>
            <a:endParaRPr sz="16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778240" y="1920240"/>
            <a:ext cx="1463040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377440"/>
            <a:ext cx="146304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Output
25 classes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74552" cy="1097280"/>
          </a:xfrm>
          <a:prstGeom prst="rect">
            <a:avLst/>
          </a:prstGeom>
          <a:solidFill>
            <a:srgbClr val="0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 panose="020F0502020204030204"/>
              </a:rPr>
              <a:t>~200K</a:t>
            </a:r>
            <a:endParaRPr sz="22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71600" y="5321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Parameters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 panose="020F0502020204030204"/>
              </a:rPr>
              <a:t>28×28</a:t>
            </a:r>
            <a:endParaRPr sz="22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800" y="5321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Input Size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 panose="020F0502020204030204"/>
              </a:rPr>
              <a:t>25</a:t>
            </a:r>
            <a:endParaRPr sz="22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0" y="5321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Output Classes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012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  <a:latin typeface="Calibri" panose="020F0502020204030204"/>
              </a:rPr>
              <a:t>96%</a:t>
            </a:r>
            <a:endParaRPr sz="22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0" y="5321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Accuracy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228600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 panose="020F0502020204030204"/>
              </a:rPr>
              <a:t>Model Comparison</a:t>
            </a:r>
            <a:endParaRPr sz="3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C3B"/>
                </a:solidFill>
                <a:latin typeface="Calibri" panose="020F0502020204030204"/>
              </a:rPr>
              <a:t>Performance Comparison</a:t>
            </a:r>
            <a:endParaRPr sz="17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5303520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4213555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468880"/>
            <a:ext cx="43891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468880"/>
            <a:ext cx="4213555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  <a:latin typeface="Calibri" panose="020F0502020204030204"/>
              </a:rPr>
              <a:t>CNN Baseline</a:t>
            </a:r>
            <a:endParaRPr sz="1500" b="1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0B4D8"/>
                </a:solidFill>
                <a:latin typeface="Calibri" panose="020F0502020204030204"/>
              </a:rPr>
              <a:t>96%</a:t>
            </a:r>
            <a:endParaRPr sz="15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74720" y="2057400"/>
            <a:ext cx="100584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84831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C3B"/>
                </a:solidFill>
                <a:latin typeface="Calibri" panose="020F0502020204030204"/>
              </a:rPr>
              <a:t>DEPLOYED</a:t>
            </a:r>
            <a:endParaRPr sz="9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5303520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109728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3423513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703320"/>
            <a:ext cx="43891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703320"/>
            <a:ext cx="3423513" cy="320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73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  <a:latin typeface="Calibri" panose="020F0502020204030204"/>
              </a:rPr>
              <a:t>LSTM</a:t>
            </a:r>
            <a:endParaRPr sz="1500" b="1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32735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96167"/>
                </a:solidFill>
                <a:latin typeface="Calibri" panose="020F0502020204030204"/>
              </a:rPr>
              <a:t>78%</a:t>
            </a:r>
            <a:endParaRPr sz="1500" b="1" i="0">
              <a:solidFill>
                <a:srgbClr val="F96167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5303520" cy="1005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34840"/>
            <a:ext cx="109728" cy="1005840"/>
          </a:xfrm>
          <a:prstGeom prst="rect">
            <a:avLst/>
          </a:prstGeom>
          <a:solidFill>
            <a:srgbClr val="027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937759"/>
            <a:ext cx="4301337" cy="320040"/>
          </a:xfrm>
          <a:prstGeom prst="rect">
            <a:avLst/>
          </a:prstGeom>
          <a:solidFill>
            <a:srgbClr val="027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937759"/>
            <a:ext cx="438912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937759"/>
            <a:ext cx="4301337" cy="320040"/>
          </a:xfrm>
          <a:prstGeom prst="rect">
            <a:avLst/>
          </a:prstGeom>
          <a:solidFill>
            <a:srgbClr val="027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07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A4A"/>
                </a:solidFill>
                <a:latin typeface="Calibri" panose="020F0502020204030204"/>
              </a:rPr>
              <a:t>ResNet18</a:t>
            </a:r>
            <a:endParaRPr sz="1500" b="1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0" y="45079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2739C"/>
                </a:solidFill>
                <a:latin typeface="Calibri" panose="020F0502020204030204"/>
              </a:rPr>
              <a:t>98%</a:t>
            </a:r>
            <a:endParaRPr sz="1500" b="1" i="0">
              <a:solidFill>
                <a:srgbClr val="02739C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1C3B"/>
                </a:solidFill>
                <a:latin typeface="Calibri" panose="020F0502020204030204"/>
              </a:rPr>
              <a:t>Why CNN Baseline?</a:t>
            </a:r>
            <a:endParaRPr sz="17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583680" y="1920240"/>
            <a:ext cx="5029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1920240"/>
            <a:ext cx="109728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  <a:latin typeface="Calibri" panose="020F0502020204030204"/>
              </a:rPr>
              <a:t>⚡ Lightweight &amp; Fast</a:t>
            </a:r>
            <a:endParaRPr sz="1400" b="1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12280" y="245059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 panose="020F0502020204030204"/>
              </a:rPr>
              <a:t>Inference in milliseconds — ideal
for a real-time web application.</a:t>
            </a:r>
            <a:endParaRPr sz="13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583680" y="3337560"/>
            <a:ext cx="5029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3337560"/>
            <a:ext cx="109728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34472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  <a:latin typeface="Calibri" panose="020F0502020204030204"/>
              </a:rPr>
              <a:t>✅ Sufficient Accuracy</a:t>
            </a:r>
            <a:endParaRPr sz="1400" b="1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812280" y="386791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 panose="020F0502020204030204"/>
              </a:rPr>
              <a:t>96% accuracy on the test set is
excellent for a 25-class problem.</a:t>
            </a:r>
            <a:endParaRPr sz="13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83680" y="4754880"/>
            <a:ext cx="5029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0" y="4754880"/>
            <a:ext cx="109728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48646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A4A"/>
                </a:solidFill>
                <a:latin typeface="Calibri" panose="020F0502020204030204"/>
              </a:rPr>
              <a:t>🎯 Simple to Deploy</a:t>
            </a:r>
            <a:endParaRPr sz="1400" b="1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12280" y="528523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 panose="020F0502020204030204"/>
              </a:rPr>
              <a:t>No pretrained weights to download;
self-contained model_final.pth.</a:t>
            </a:r>
            <a:endParaRPr sz="130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228600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Training Pipeline &amp; Results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Training Steps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5120640" cy="5943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109728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1  Load Sign Language MNIST dataset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2624327"/>
            <a:ext cx="5120640" cy="5943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24327"/>
            <a:ext cx="109728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2  Normalize images (mean=0.5, std=0.5)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5120640" cy="5943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5"/>
            <a:ext cx="109728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19856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3  Define CNNBaseline architecture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5120640" cy="5943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23944"/>
            <a:ext cx="109728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966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4  Train with CrossEntropyLoss + Adam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4873752"/>
            <a:ext cx="5120640" cy="5943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73752"/>
            <a:ext cx="109728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1947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5  Save best model → model_final.pth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Key Metrics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0" y="1874519"/>
            <a:ext cx="2377440" cy="12801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874519"/>
            <a:ext cx="237744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 panose="020F0502020204030204"/>
              </a:rPr>
              <a:t>27,455</a:t>
            </a:r>
            <a:endParaRPr sz="28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Training Images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052560" y="1874519"/>
            <a:ext cx="2377440" cy="12801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1874519"/>
            <a:ext cx="237744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103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 panose="020F0502020204030204"/>
              </a:rPr>
              <a:t>7,172</a:t>
            </a:r>
            <a:endParaRPr sz="28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Test Images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0" y="3429000"/>
            <a:ext cx="2377440" cy="12801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429000"/>
            <a:ext cx="237744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57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Calibri" panose="020F0502020204030204"/>
              </a:rPr>
              <a:t>25</a:t>
            </a:r>
            <a:endParaRPr sz="2800" b="1" i="0">
              <a:solidFill>
                <a:srgbClr val="00B4D8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Classes (A–Y)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52560" y="3429000"/>
            <a:ext cx="2377440" cy="128016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52560" y="3429000"/>
            <a:ext cx="2377440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657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  <a:latin typeface="Calibri" panose="020F0502020204030204"/>
              </a:rPr>
              <a:t>96%</a:t>
            </a:r>
            <a:endParaRPr sz="2800" b="1" i="0">
              <a:solidFill>
                <a:srgbClr val="4ADE80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5256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CNN Baseline Acc.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228600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Streamlit Web Application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A4A"/>
                </a:solidFill>
                <a:latin typeface="Calibri" panose="020F0502020204030204"/>
              </a:rPr>
              <a:t>How It Works</a:t>
            </a:r>
            <a:endParaRPr sz="1700" b="1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0" y="1920240"/>
            <a:ext cx="411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9339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C3B"/>
                </a:solidFill>
                <a:latin typeface="Calibri" panose="020F0502020204030204"/>
              </a:rPr>
              <a:t>1</a:t>
            </a:r>
            <a:endParaRPr sz="15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4A"/>
                </a:solidFill>
                <a:latin typeface="Calibri" panose="020F0502020204030204"/>
              </a:rPr>
              <a:t>User uploads a hand sign image (JPG/PNG)</a:t>
            </a:r>
            <a:endParaRPr sz="1300" b="0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83680" y="2724912"/>
            <a:ext cx="411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79806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C3B"/>
                </a:solidFill>
                <a:latin typeface="Calibri" panose="020F0502020204030204"/>
              </a:rPr>
              <a:t>2</a:t>
            </a:r>
            <a:endParaRPr sz="15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0" y="2816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4A"/>
                </a:solidFill>
                <a:latin typeface="Calibri" panose="020F0502020204030204"/>
              </a:rPr>
              <a:t>Image → grayscale &amp; resized to 28×28</a:t>
            </a:r>
            <a:endParaRPr sz="1300" b="0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83680" y="3529584"/>
            <a:ext cx="411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6027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C3B"/>
                </a:solidFill>
                <a:latin typeface="Calibri" panose="020F0502020204030204"/>
              </a:rPr>
              <a:t>3</a:t>
            </a:r>
            <a:endParaRPr sz="15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0" y="362102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4A"/>
                </a:solidFill>
                <a:latin typeface="Calibri" panose="020F0502020204030204"/>
              </a:rPr>
              <a:t>Normalized tensor passed to CNNBaseline</a:t>
            </a:r>
            <a:endParaRPr sz="1300" b="0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83680" y="4334256"/>
            <a:ext cx="411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40740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C3B"/>
                </a:solidFill>
                <a:latin typeface="Calibri" panose="020F0502020204030204"/>
              </a:rPr>
              <a:t>4</a:t>
            </a:r>
            <a:endParaRPr sz="15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2320" y="442569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4A"/>
                </a:solidFill>
                <a:latin typeface="Calibri" panose="020F0502020204030204"/>
              </a:rPr>
              <a:t>torch.max() selects highest-confidence class</a:t>
            </a:r>
            <a:endParaRPr sz="1300" b="0" i="0">
              <a:solidFill>
                <a:srgbClr val="1A2A4A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0" y="5138928"/>
            <a:ext cx="411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C3B"/>
                </a:solidFill>
                <a:latin typeface="Calibri" panose="020F0502020204030204"/>
              </a:rPr>
              <a:t>5</a:t>
            </a:r>
            <a:endParaRPr sz="1500" b="1" i="0">
              <a:solidFill>
                <a:srgbClr val="0F1C3B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0" y="523036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A4A"/>
                </a:solidFill>
                <a:latin typeface="Calibri" panose="020F0502020204030204"/>
              </a:rPr>
              <a:t>Predicted letter shown via st.success()</a:t>
            </a:r>
            <a:endParaRPr sz="1300" b="0" i="0">
              <a:solidFill>
                <a:srgbClr val="1A2A4A"/>
              </a:solidFill>
              <a:latin typeface="Calibri" panose="020F0502020204030204"/>
            </a:endParaRPr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90" y="984250"/>
            <a:ext cx="4427855" cy="5873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228600" cy="5669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Tech Stack &amp; Conclusion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Technologies Used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0320" cy="182880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56032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PyTorch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Model definition,
training &amp; inference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560320" cy="182880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828800"/>
            <a:ext cx="256032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848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Torchvision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2606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Image transforms
&amp; preprocessing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2560320" cy="182880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256032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0848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Streamlit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59" y="2606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Interactive web
UI in pure Python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052560" y="1828800"/>
            <a:ext cx="2560320" cy="1828800"/>
          </a:xfrm>
          <a:prstGeom prst="rect">
            <a:avLst/>
          </a:prstGeom>
          <a:solidFill>
            <a:srgbClr val="1A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828800"/>
            <a:ext cx="2560320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84831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Pillow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0" y="26060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 panose="020F0502020204030204"/>
              </a:rPr>
              <a:t>Image loading
&amp; format support</a:t>
            </a:r>
            <a:endParaRPr sz="12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11064240" cy="2468880"/>
          </a:xfrm>
          <a:prstGeom prst="rect">
            <a:avLst/>
          </a:prstGeom>
          <a:solidFill>
            <a:srgbClr val="0A1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182880" cy="2468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 panose="020F0502020204030204"/>
              </a:rPr>
              <a:t>Key Takeaways</a:t>
            </a:r>
            <a:endParaRPr sz="17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05840" y="4617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Calibri" panose="020F0502020204030204"/>
              </a:rPr>
              <a:t>✓  CNN Baseline (96%) was chosen for its speed, simplicity, and excellent accuracy — over ResNet18 (98%)</a:t>
            </a:r>
            <a:endParaRPr sz="13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514807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Calibri" panose="020F0502020204030204"/>
              </a:rPr>
              <a:t>✓  Streamlit enables rapid deployment of ML models with minimal boilerplate code</a:t>
            </a:r>
            <a:endParaRPr sz="1300" b="0" i="0">
              <a:solidFill>
                <a:srgbClr val="90E0E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5840" y="567842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E0EF"/>
                </a:solidFill>
                <a:latin typeface="Calibri" panose="020F0502020204030204"/>
              </a:rPr>
              <a:t>✓  The pipeline (grayscale → resize → normalize → predict) is fast enough for real-time use</a:t>
            </a:r>
            <a:endParaRPr sz="1300" b="0" i="0">
              <a:solidFill>
                <a:srgbClr val="90E0E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2102</Words>
  <Application>WPS Presentation</Application>
  <PresentationFormat>On-screen Show (4:3)</PresentationFormat>
  <Paragraphs>188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Rym</cp:lastModifiedBy>
  <cp:revision>2</cp:revision>
  <dcterms:created xsi:type="dcterms:W3CDTF">2013-01-27T09:14:00Z</dcterms:created>
  <dcterms:modified xsi:type="dcterms:W3CDTF">2026-05-22T08:46:03Z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1036-12.1.0.26372</vt:lpwstr>
  </property>
  <property fmtid="{D5CDD505-2E9C-101B-9397-08002B2CF9AE}" pid="3" name="ICV">
    <vt:lpwstr>692C9FB5CC9A47E68099D7885EB3289B_12</vt:lpwstr>
  </property>
</Properties>
</file>